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Glacial Indifference" charset="1" panose="00000000000000000000"/>
      <p:regular r:id="rId21"/>
    </p:embeddedFont>
    <p:embeddedFont>
      <p:font typeface="HK Grotesk" charset="1" panose="00000500000000000000"/>
      <p:regular r:id="rId22"/>
    </p:embeddedFont>
    <p:embeddedFont>
      <p:font typeface="HK Grotesk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ai4bharat.iitm.ac.in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CEDEEB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257036" y="5570906"/>
            <a:ext cx="6983181" cy="669188"/>
            <a:chOff x="0" y="0"/>
            <a:chExt cx="1839192" cy="1762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9192" cy="176247"/>
            </a:xfrm>
            <a:custGeom>
              <a:avLst/>
              <a:gdLst/>
              <a:ahLst/>
              <a:cxnLst/>
              <a:rect r="r" b="b" t="t" l="l"/>
              <a:pathLst>
                <a:path h="176247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8C3839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10563" y="1755245"/>
            <a:ext cx="13066873" cy="291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sz="12998">
                <a:solidFill>
                  <a:srgbClr val="2B474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SOAP NOTE</a:t>
            </a:r>
          </a:p>
          <a:p>
            <a:pPr algn="ctr">
              <a:lnSpc>
                <a:spcPts val="10918"/>
              </a:lnSpc>
            </a:pPr>
            <a:r>
              <a:rPr lang="en-US" sz="12998">
                <a:solidFill>
                  <a:srgbClr val="2B474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GENERATOR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57036" y="5722577"/>
            <a:ext cx="6617965" cy="44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Presented By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57036" y="6671540"/>
            <a:ext cx="6983181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Mukta Naik                        612203122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Sujal Nandapurkar            612203123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Revati Patare                     612203131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Tanuja Patil                        612203138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960367"/>
            <a:ext cx="12690673" cy="4036757"/>
            <a:chOff x="0" y="0"/>
            <a:chExt cx="3342400" cy="10631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42399" cy="1063179"/>
            </a:xfrm>
            <a:custGeom>
              <a:avLst/>
              <a:gdLst/>
              <a:ahLst/>
              <a:cxnLst/>
              <a:rect r="r" b="b" t="t" l="l"/>
              <a:pathLst>
                <a:path h="1063179" w="3342399">
                  <a:moveTo>
                    <a:pt x="19522" y="0"/>
                  </a:moveTo>
                  <a:lnTo>
                    <a:pt x="3322878" y="0"/>
                  </a:lnTo>
                  <a:cubicBezTo>
                    <a:pt x="3333659" y="0"/>
                    <a:pt x="3342399" y="8740"/>
                    <a:pt x="3342399" y="19522"/>
                  </a:cubicBezTo>
                  <a:lnTo>
                    <a:pt x="3342399" y="1043657"/>
                  </a:lnTo>
                  <a:cubicBezTo>
                    <a:pt x="3342399" y="1054439"/>
                    <a:pt x="3333659" y="1063179"/>
                    <a:pt x="3322878" y="1063179"/>
                  </a:cubicBezTo>
                  <a:lnTo>
                    <a:pt x="19522" y="1063179"/>
                  </a:lnTo>
                  <a:cubicBezTo>
                    <a:pt x="8740" y="1063179"/>
                    <a:pt x="0" y="1054439"/>
                    <a:pt x="0" y="1043657"/>
                  </a:cubicBezTo>
                  <a:lnTo>
                    <a:pt x="0" y="19522"/>
                  </a:lnTo>
                  <a:cubicBezTo>
                    <a:pt x="0" y="8740"/>
                    <a:pt x="8740" y="0"/>
                    <a:pt x="19522" y="0"/>
                  </a:cubicBezTo>
                  <a:close/>
                </a:path>
              </a:pathLst>
            </a:custGeom>
            <a:solidFill>
              <a:srgbClr val="FBFBFA">
                <a:alpha val="9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42400" cy="1110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79"/>
                </a:lnSpc>
              </a:pP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Process medical dialogue transcripts in indic languages</a:t>
              </a:r>
            </a:p>
            <a:p>
              <a:pPr algn="l">
                <a:lnSpc>
                  <a:spcPts val="3079"/>
                </a:lnSpc>
              </a:pP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Perform clinical entity extraction and contextual understanding</a:t>
              </a:r>
            </a:p>
            <a:p>
              <a:pPr algn="l">
                <a:lnSpc>
                  <a:spcPts val="3079"/>
                </a:lnSpc>
              </a:pP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Classify relevant information into Subjective, Objective, Assessment and Plan sections</a:t>
              </a:r>
            </a:p>
            <a:p>
              <a:pPr algn="l">
                <a:lnSpc>
                  <a:spcPts val="3079"/>
                </a:lnSpc>
              </a:pP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Generate structured SOAP notes that can assist in automated clinical documentation within healthcare systems</a:t>
              </a:r>
            </a:p>
            <a:p>
              <a:pPr algn="l">
                <a:lnSpc>
                  <a:spcPts val="3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200150"/>
            <a:ext cx="11053942" cy="1067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>
                <a:solidFill>
                  <a:srgbClr val="8C383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96907"/>
            <a:ext cx="15503388" cy="156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29"/>
              </a:lnSpc>
              <a:spcBef>
                <a:spcPct val="0"/>
              </a:spcBef>
            </a:pP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Generating structured </a:t>
            </a:r>
            <a:r>
              <a:rPr lang="en-US" b="true" sz="2317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SOAP notes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from medical conversations is a challenging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LP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ta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sk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ue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unstructured dialogue, multiple speakers and contextual medical information. Most existing clinical NLP systems focus on </a:t>
            </a:r>
            <a:r>
              <a:rPr lang="en-US" b="true" sz="2317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English datasets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, with limited support for Indic languages such as Marathi and Hindi. This project develops an automated pipeline that performs </a:t>
            </a:r>
            <a:r>
              <a:rPr lang="en-US" b="true" sz="2317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speech-to-text conversion, extracts clinical entities from conversations, and generates SOAP notes in Indic languages.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443895"/>
            <a:ext cx="1550338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The system aims to: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19024"/>
            <a:ext cx="6776080" cy="1653505"/>
            <a:chOff x="0" y="0"/>
            <a:chExt cx="9034773" cy="2204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34773" cy="2204673"/>
            </a:xfrm>
            <a:custGeom>
              <a:avLst/>
              <a:gdLst/>
              <a:ahLst/>
              <a:cxnLst/>
              <a:rect r="r" b="b" t="t" l="l"/>
              <a:pathLst>
                <a:path h="2204673" w="9034773">
                  <a:moveTo>
                    <a:pt x="0" y="0"/>
                  </a:moveTo>
                  <a:lnTo>
                    <a:pt x="9034773" y="0"/>
                  </a:lnTo>
                  <a:lnTo>
                    <a:pt x="9034773" y="2204673"/>
                  </a:lnTo>
                  <a:lnTo>
                    <a:pt x="0" y="2204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19813"/>
              <a:ext cx="9034773" cy="451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2"/>
                </a:lnSpc>
                <a:spcBef>
                  <a:spcPct val="0"/>
                </a:spcBef>
              </a:pPr>
              <a:r>
                <a:rPr lang="en-US" b="true" sz="203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Dataset Expansion and Diversity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503960" y="518829"/>
              <a:ext cx="283072" cy="66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9"/>
                </a:lnSpc>
                <a:spcBef>
                  <a:spcPct val="0"/>
                </a:spcBef>
              </a:pPr>
              <a:r>
                <a:rPr lang="en-US" sz="2964">
                  <a:solidFill>
                    <a:srgbClr val="FBFB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2019024"/>
            <a:ext cx="7035267" cy="1653505"/>
            <a:chOff x="0" y="0"/>
            <a:chExt cx="9380357" cy="22046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34773" cy="2204673"/>
            </a:xfrm>
            <a:custGeom>
              <a:avLst/>
              <a:gdLst/>
              <a:ahLst/>
              <a:cxnLst/>
              <a:rect r="r" b="b" t="t" l="l"/>
              <a:pathLst>
                <a:path h="2204673" w="9034773">
                  <a:moveTo>
                    <a:pt x="0" y="0"/>
                  </a:moveTo>
                  <a:lnTo>
                    <a:pt x="9034773" y="0"/>
                  </a:lnTo>
                  <a:lnTo>
                    <a:pt x="9034773" y="2204673"/>
                  </a:lnTo>
                  <a:lnTo>
                    <a:pt x="0" y="2204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345584" y="119813"/>
              <a:ext cx="9034773" cy="451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2"/>
                </a:lnSpc>
                <a:spcBef>
                  <a:spcPct val="0"/>
                </a:spcBef>
              </a:pPr>
              <a:r>
                <a:rPr lang="en-US" b="true" sz="203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Automated SOAP Note Generation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21417" y="518829"/>
              <a:ext cx="283072" cy="66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9"/>
                </a:lnSpc>
                <a:spcBef>
                  <a:spcPct val="0"/>
                </a:spcBef>
              </a:pPr>
              <a:r>
                <a:rPr lang="en-US" sz="2964">
                  <a:solidFill>
                    <a:srgbClr val="FBFB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113680"/>
            <a:ext cx="6776080" cy="1653505"/>
            <a:chOff x="0" y="0"/>
            <a:chExt cx="9034773" cy="22046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34773" cy="2204673"/>
            </a:xfrm>
            <a:custGeom>
              <a:avLst/>
              <a:gdLst/>
              <a:ahLst/>
              <a:cxnLst/>
              <a:rect r="r" b="b" t="t" l="l"/>
              <a:pathLst>
                <a:path h="2204673" w="9034773">
                  <a:moveTo>
                    <a:pt x="0" y="0"/>
                  </a:moveTo>
                  <a:lnTo>
                    <a:pt x="9034773" y="0"/>
                  </a:lnTo>
                  <a:lnTo>
                    <a:pt x="9034773" y="2204673"/>
                  </a:lnTo>
                  <a:lnTo>
                    <a:pt x="0" y="2204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114832"/>
              <a:ext cx="9034773" cy="451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2"/>
                </a:lnSpc>
                <a:spcBef>
                  <a:spcPct val="0"/>
                </a:spcBef>
              </a:pPr>
              <a:r>
                <a:rPr lang="en-US" b="true" sz="203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Hand</a:t>
              </a:r>
              <a:r>
                <a:rPr lang="en-US" b="true" sz="203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ling 'Code-Switching'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15724" y="511331"/>
              <a:ext cx="283072" cy="66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9"/>
                </a:lnSpc>
                <a:spcBef>
                  <a:spcPct val="0"/>
                </a:spcBef>
              </a:pPr>
              <a:r>
                <a:rPr lang="en-US" sz="2964">
                  <a:solidFill>
                    <a:srgbClr val="FBFB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4113680"/>
            <a:ext cx="6776080" cy="1653505"/>
            <a:chOff x="0" y="0"/>
            <a:chExt cx="9034773" cy="22046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34773" cy="2204673"/>
            </a:xfrm>
            <a:custGeom>
              <a:avLst/>
              <a:gdLst/>
              <a:ahLst/>
              <a:cxnLst/>
              <a:rect r="r" b="b" t="t" l="l"/>
              <a:pathLst>
                <a:path h="2204673" w="9034773">
                  <a:moveTo>
                    <a:pt x="0" y="0"/>
                  </a:moveTo>
                  <a:lnTo>
                    <a:pt x="9034773" y="0"/>
                  </a:lnTo>
                  <a:lnTo>
                    <a:pt x="9034773" y="2204673"/>
                  </a:lnTo>
                  <a:lnTo>
                    <a:pt x="0" y="2204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0" y="114832"/>
              <a:ext cx="9034773" cy="451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2"/>
                </a:lnSpc>
                <a:spcBef>
                  <a:spcPct val="0"/>
                </a:spcBef>
              </a:pPr>
              <a:r>
                <a:rPr lang="en-US" b="true" sz="203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Cross-Lingual Trans</a:t>
              </a:r>
              <a:r>
                <a:rPr lang="en-US" b="true" sz="203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lation &amp; Mapping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21417" y="499567"/>
              <a:ext cx="283072" cy="66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9"/>
                </a:lnSpc>
                <a:spcBef>
                  <a:spcPct val="0"/>
                </a:spcBef>
              </a:pPr>
              <a:r>
                <a:rPr lang="en-US" sz="2964">
                  <a:solidFill>
                    <a:srgbClr val="FBFB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6326242"/>
            <a:ext cx="6776080" cy="1653505"/>
            <a:chOff x="0" y="0"/>
            <a:chExt cx="9034773" cy="22046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34773" cy="2204673"/>
            </a:xfrm>
            <a:custGeom>
              <a:avLst/>
              <a:gdLst/>
              <a:ahLst/>
              <a:cxnLst/>
              <a:rect r="r" b="b" t="t" l="l"/>
              <a:pathLst>
                <a:path h="2204673" w="9034773">
                  <a:moveTo>
                    <a:pt x="0" y="0"/>
                  </a:moveTo>
                  <a:lnTo>
                    <a:pt x="9034773" y="0"/>
                  </a:lnTo>
                  <a:lnTo>
                    <a:pt x="9034773" y="2204673"/>
                  </a:lnTo>
                  <a:lnTo>
                    <a:pt x="0" y="2204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120241"/>
              <a:ext cx="9034773" cy="451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2"/>
                </a:lnSpc>
                <a:spcBef>
                  <a:spcPct val="0"/>
                </a:spcBef>
              </a:pPr>
              <a:r>
                <a:rPr lang="en-US" b="true" sz="203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Clinical </a:t>
              </a:r>
              <a:r>
                <a:rPr lang="en-US" b="true" sz="203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Entity Recognition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03960" y="504976"/>
              <a:ext cx="283072" cy="66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9"/>
                </a:lnSpc>
                <a:spcBef>
                  <a:spcPct val="0"/>
                </a:spcBef>
              </a:pPr>
              <a:r>
                <a:rPr lang="en-US" sz="2964">
                  <a:solidFill>
                    <a:srgbClr val="FBFB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0" y="6326242"/>
            <a:ext cx="7035267" cy="1653505"/>
            <a:chOff x="0" y="0"/>
            <a:chExt cx="9380357" cy="22046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34773" cy="2204673"/>
            </a:xfrm>
            <a:custGeom>
              <a:avLst/>
              <a:gdLst/>
              <a:ahLst/>
              <a:cxnLst/>
              <a:rect r="r" b="b" t="t" l="l"/>
              <a:pathLst>
                <a:path h="2204673" w="9034773">
                  <a:moveTo>
                    <a:pt x="0" y="0"/>
                  </a:moveTo>
                  <a:lnTo>
                    <a:pt x="9034773" y="0"/>
                  </a:lnTo>
                  <a:lnTo>
                    <a:pt x="9034773" y="2204673"/>
                  </a:lnTo>
                  <a:lnTo>
                    <a:pt x="0" y="2204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345584" y="120241"/>
              <a:ext cx="9034773" cy="451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2"/>
                </a:lnSpc>
                <a:spcBef>
                  <a:spcPct val="0"/>
                </a:spcBef>
              </a:pPr>
              <a:r>
                <a:rPr lang="en-US" b="true" sz="203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Multilingu</a:t>
              </a:r>
              <a:r>
                <a:rPr lang="en-US" b="true" sz="203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al Speech Recognition (ASR)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21417" y="516740"/>
              <a:ext cx="283072" cy="66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9"/>
                </a:lnSpc>
                <a:spcBef>
                  <a:spcPct val="0"/>
                </a:spcBef>
              </a:pPr>
              <a:r>
                <a:rPr lang="en-US" sz="2964">
                  <a:solidFill>
                    <a:srgbClr val="FBFB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8336298"/>
            <a:ext cx="6776080" cy="1653505"/>
            <a:chOff x="0" y="0"/>
            <a:chExt cx="9034773" cy="22046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34773" cy="2204673"/>
            </a:xfrm>
            <a:custGeom>
              <a:avLst/>
              <a:gdLst/>
              <a:ahLst/>
              <a:cxnLst/>
              <a:rect r="r" b="b" t="t" l="l"/>
              <a:pathLst>
                <a:path h="2204673" w="9034773">
                  <a:moveTo>
                    <a:pt x="0" y="0"/>
                  </a:moveTo>
                  <a:lnTo>
                    <a:pt x="9034773" y="0"/>
                  </a:lnTo>
                  <a:lnTo>
                    <a:pt x="9034773" y="2204673"/>
                  </a:lnTo>
                  <a:lnTo>
                    <a:pt x="0" y="2204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0" y="120241"/>
              <a:ext cx="9034773" cy="451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2"/>
                </a:lnSpc>
                <a:spcBef>
                  <a:spcPct val="0"/>
                </a:spcBef>
              </a:pPr>
              <a:r>
                <a:rPr lang="en-US" b="true" sz="203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Multi-Speaker Diarization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03960" y="504976"/>
              <a:ext cx="283072" cy="66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9"/>
                </a:lnSpc>
                <a:spcBef>
                  <a:spcPct val="0"/>
                </a:spcBef>
              </a:pPr>
              <a:r>
                <a:rPr lang="en-US" sz="2964">
                  <a:solidFill>
                    <a:srgbClr val="FBFB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7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0" y="8336298"/>
            <a:ext cx="6776080" cy="1653505"/>
            <a:chOff x="0" y="0"/>
            <a:chExt cx="9034773" cy="22046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034773" cy="2204673"/>
            </a:xfrm>
            <a:custGeom>
              <a:avLst/>
              <a:gdLst/>
              <a:ahLst/>
              <a:cxnLst/>
              <a:rect r="r" b="b" t="t" l="l"/>
              <a:pathLst>
                <a:path h="2204673" w="9034773">
                  <a:moveTo>
                    <a:pt x="0" y="0"/>
                  </a:moveTo>
                  <a:lnTo>
                    <a:pt x="9034773" y="0"/>
                  </a:lnTo>
                  <a:lnTo>
                    <a:pt x="9034773" y="2204673"/>
                  </a:lnTo>
                  <a:lnTo>
                    <a:pt x="0" y="2204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0" y="120241"/>
              <a:ext cx="9034773" cy="451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2"/>
                </a:lnSpc>
                <a:spcBef>
                  <a:spcPct val="0"/>
                </a:spcBef>
              </a:pPr>
              <a:r>
                <a:rPr lang="en-US" b="true" sz="203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Validation Framework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03960" y="504976"/>
              <a:ext cx="283072" cy="66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9"/>
                </a:lnSpc>
                <a:spcBef>
                  <a:spcPct val="0"/>
                </a:spcBef>
              </a:pPr>
              <a:r>
                <a:rPr lang="en-US" sz="2964">
                  <a:solidFill>
                    <a:srgbClr val="FBFBF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8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28700" y="434444"/>
            <a:ext cx="8537476" cy="123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8"/>
              </a:lnSpc>
            </a:pPr>
            <a:r>
              <a:rPr lang="en-US" sz="8472">
                <a:solidFill>
                  <a:srgbClr val="8C383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OBJECTIVES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83824" y="2543517"/>
            <a:ext cx="6432634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 improve dataset diversity using translation pipelines and 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LLaMA-generated synthetic conversations.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50864" y="2543517"/>
            <a:ext cx="6267343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 architect an NLP engine that synthesizes the transcribed 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data into SOAP note in the supported language.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37991" y="4638172"/>
            <a:ext cx="5590523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 handle code-mixed medical conversations where speakers switch between languages.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88030" y="4624705"/>
            <a:ext cx="5678711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 develop a pipeline that converts Indic language complaints into standardized medical form.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37991" y="6850735"/>
            <a:ext cx="5647614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 extract key medical entities such as symptoms, emotions, duration, and severity from conversational data.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76389" y="6729210"/>
            <a:ext cx="5501994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 develop a multilingual ASR system capable of transcribing English and Indic languages with high accuracy.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837991" y="8713153"/>
            <a:ext cx="5590523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 use speaker diarization to differentiate between doctor and patient dialogue for accurate SOAP section classification.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03634" y="8853805"/>
            <a:ext cx="5647503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 evaluate genera</a:t>
            </a:r>
            <a:r>
              <a:rPr lang="en-US" sz="1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ted SOAP notes for clinical relevance, accuracy and structural completeness.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865" y="3968928"/>
            <a:ext cx="4026853" cy="606389"/>
            <a:chOff x="0" y="0"/>
            <a:chExt cx="1348022" cy="202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8022" cy="202994"/>
            </a:xfrm>
            <a:custGeom>
              <a:avLst/>
              <a:gdLst/>
              <a:ahLst/>
              <a:cxnLst/>
              <a:rect r="r" b="b" t="t" l="l"/>
              <a:pathLst>
                <a:path h="202994" w="1348022">
                  <a:moveTo>
                    <a:pt x="96129" y="0"/>
                  </a:moveTo>
                  <a:lnTo>
                    <a:pt x="1251893" y="0"/>
                  </a:lnTo>
                  <a:cubicBezTo>
                    <a:pt x="1304984" y="0"/>
                    <a:pt x="1348022" y="43038"/>
                    <a:pt x="1348022" y="96129"/>
                  </a:cubicBezTo>
                  <a:lnTo>
                    <a:pt x="1348022" y="106865"/>
                  </a:lnTo>
                  <a:cubicBezTo>
                    <a:pt x="1348022" y="159955"/>
                    <a:pt x="1304984" y="202994"/>
                    <a:pt x="1251893" y="202994"/>
                  </a:cubicBezTo>
                  <a:lnTo>
                    <a:pt x="96129" y="202994"/>
                  </a:lnTo>
                  <a:cubicBezTo>
                    <a:pt x="43038" y="202994"/>
                    <a:pt x="0" y="159955"/>
                    <a:pt x="0" y="106865"/>
                  </a:cubicBezTo>
                  <a:lnTo>
                    <a:pt x="0" y="96129"/>
                  </a:lnTo>
                  <a:cubicBezTo>
                    <a:pt x="0" y="43038"/>
                    <a:pt x="43038" y="0"/>
                    <a:pt x="96129" y="0"/>
                  </a:cubicBezTo>
                  <a:close/>
                </a:path>
              </a:pathLst>
            </a:custGeom>
            <a:solidFill>
              <a:srgbClr val="8C38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0"/>
              <a:ext cx="1348022" cy="107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175402" y="1600759"/>
            <a:ext cx="6830714" cy="2128485"/>
            <a:chOff x="0" y="0"/>
            <a:chExt cx="2286638" cy="7125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8C38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0"/>
              <a:ext cx="2286638" cy="617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75402" y="4137367"/>
            <a:ext cx="6830714" cy="2128485"/>
            <a:chOff x="0" y="0"/>
            <a:chExt cx="2286638" cy="7125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8C383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2286638" cy="617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75402" y="6675427"/>
            <a:ext cx="6830714" cy="2128485"/>
            <a:chOff x="0" y="0"/>
            <a:chExt cx="2286638" cy="7125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8C383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0"/>
              <a:ext cx="2286638" cy="617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2210529" y="2359895"/>
            <a:ext cx="0" cy="738797"/>
          </a:xfrm>
          <a:prstGeom prst="line">
            <a:avLst/>
          </a:prstGeom>
          <a:ln cap="flat" w="38100">
            <a:solidFill>
              <a:srgbClr val="CEDE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2210529" y="4832211"/>
            <a:ext cx="0" cy="738797"/>
          </a:xfrm>
          <a:prstGeom prst="line">
            <a:avLst/>
          </a:prstGeom>
          <a:ln cap="flat" w="38100">
            <a:solidFill>
              <a:srgbClr val="CEDE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2229579" y="7434563"/>
            <a:ext cx="0" cy="738797"/>
          </a:xfrm>
          <a:prstGeom prst="line">
            <a:avLst/>
          </a:prstGeom>
          <a:ln cap="flat" w="38100">
            <a:solidFill>
              <a:srgbClr val="CEDE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351403" y="4762999"/>
            <a:ext cx="7534140" cy="4812432"/>
          </a:xfrm>
          <a:custGeom>
            <a:avLst/>
            <a:gdLst/>
            <a:ahLst/>
            <a:cxnLst/>
            <a:rect r="r" b="b" t="t" l="l"/>
            <a:pathLst>
              <a:path h="4812432" w="7534140">
                <a:moveTo>
                  <a:pt x="0" y="0"/>
                </a:moveTo>
                <a:lnTo>
                  <a:pt x="7534140" y="0"/>
                </a:lnTo>
                <a:lnTo>
                  <a:pt x="7534140" y="4812432"/>
                </a:lnTo>
                <a:lnTo>
                  <a:pt x="0" y="4812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58865" y="1476064"/>
            <a:ext cx="6914101" cy="1939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458"/>
              </a:lnSpc>
              <a:spcBef>
                <a:spcPct val="0"/>
              </a:spcBef>
            </a:pPr>
            <a:r>
              <a:rPr lang="en-US" sz="7689">
                <a:solidFill>
                  <a:srgbClr val="10437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DATASET DESCRIPTION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1403" y="4115044"/>
            <a:ext cx="3563270" cy="34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489">
                <a:solidFill>
                  <a:srgbClr val="CEDEEB"/>
                </a:solidFill>
                <a:latin typeface="HK Grotesk"/>
                <a:ea typeface="HK Grotesk"/>
                <a:cs typeface="HK Grotesk"/>
                <a:sym typeface="HK Grotesk"/>
              </a:rPr>
              <a:t>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06158" y="2405833"/>
            <a:ext cx="3556933" cy="66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70"/>
              </a:lnSpc>
              <a:spcBef>
                <a:spcPct val="0"/>
              </a:spcBef>
            </a:pPr>
            <a:r>
              <a:rPr lang="en-US" sz="1311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The datas</a:t>
            </a:r>
            <a:r>
              <a:rPr lang="en-US" sz="1311" u="none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et is derived from the </a:t>
            </a:r>
            <a:r>
              <a:rPr lang="en-US" b="true" sz="1311" u="none">
                <a:solidFill>
                  <a:srgbClr val="FFD3D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DAIC-WOZ</a:t>
            </a:r>
            <a:r>
              <a:rPr lang="en-US" sz="1311" u="none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b="true" sz="1311" u="none">
                <a:solidFill>
                  <a:srgbClr val="FFD3D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mental health interview corpus,</a:t>
            </a:r>
            <a:r>
              <a:rPr lang="en-US" sz="1311" u="none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 which contains therapist–patient conversations.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06158" y="4734424"/>
            <a:ext cx="3556933" cy="109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70"/>
              </a:lnSpc>
              <a:spcBef>
                <a:spcPct val="0"/>
              </a:spcBef>
            </a:pPr>
            <a:r>
              <a:rPr lang="en-US" sz="1311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Pars</a:t>
            </a:r>
            <a:r>
              <a:rPr lang="en-US" sz="1311" u="none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ed DAIC-WOZ transcripts to obtain conversation turns, speaker roles, and session metadata such as </a:t>
            </a:r>
            <a:r>
              <a:rPr lang="en-US" b="true" sz="1311" u="none">
                <a:solidFill>
                  <a:srgbClr val="FFD3D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PHQ-8 score, severity, and gender </a:t>
            </a:r>
            <a:r>
              <a:rPr lang="en-US" sz="1311" u="none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and adapted the conversations into multiple </a:t>
            </a:r>
            <a:r>
              <a:rPr lang="en-US" b="true" sz="1311" u="none">
                <a:solidFill>
                  <a:srgbClr val="FFD3D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Marathi dialect </a:t>
            </a:r>
            <a:r>
              <a:rPr lang="en-US" sz="1311" u="none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styles.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06158" y="6964451"/>
            <a:ext cx="3556933" cy="131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70"/>
              </a:lnSpc>
              <a:spcBef>
                <a:spcPct val="0"/>
              </a:spcBef>
            </a:pPr>
            <a:r>
              <a:rPr lang="en-US" sz="1311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Engl</a:t>
            </a:r>
            <a:r>
              <a:rPr lang="en-US" sz="1311" u="none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ish conversations were translated into </a:t>
            </a:r>
            <a:r>
              <a:rPr lang="en-US" b="true" sz="1311" u="none">
                <a:solidFill>
                  <a:srgbClr val="FFD3D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Marathi</a:t>
            </a:r>
            <a:r>
              <a:rPr lang="en-US" sz="1311" u="none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 using a custom translation pipeline. The dataset was further expanded using the </a:t>
            </a:r>
            <a:r>
              <a:rPr lang="en-US" b="true" sz="1311" u="none">
                <a:solidFill>
                  <a:srgbClr val="FFD3D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LLaMA</a:t>
            </a:r>
            <a:r>
              <a:rPr lang="en-US" sz="1311" u="none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 model to generate additional synthetic conversations while preserving clinical context and </a:t>
            </a:r>
            <a:r>
              <a:rPr lang="en-US" b="true" sz="1311" u="none">
                <a:solidFill>
                  <a:srgbClr val="FFD3D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PHQ-8 labels.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04419" y="2487637"/>
            <a:ext cx="3563270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>
                <a:solidFill>
                  <a:srgbClr val="CEDEEB"/>
                </a:solidFill>
                <a:latin typeface="HK Grotesk"/>
                <a:ea typeface="HK Grotesk"/>
                <a:cs typeface="HK Grotesk"/>
                <a:sym typeface="HK Grotesk"/>
              </a:rPr>
              <a:t>DATASET</a:t>
            </a:r>
          </a:p>
          <a:p>
            <a:pPr algn="ctr">
              <a:lnSpc>
                <a:spcPts val="2160"/>
              </a:lnSpc>
            </a:pPr>
            <a:r>
              <a:rPr lang="en-US" sz="2000">
                <a:solidFill>
                  <a:srgbClr val="CEDEEB"/>
                </a:solidFill>
                <a:latin typeface="HK Grotesk"/>
                <a:ea typeface="HK Grotesk"/>
                <a:cs typeface="HK Grotesk"/>
                <a:sym typeface="HK Grotesk"/>
              </a:rPr>
              <a:t>SOURCE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04419" y="4925765"/>
            <a:ext cx="3563270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>
                <a:solidFill>
                  <a:srgbClr val="CEDEEB"/>
                </a:solidFill>
                <a:latin typeface="HK Grotesk"/>
                <a:ea typeface="HK Grotesk"/>
                <a:cs typeface="HK Grotesk"/>
                <a:sym typeface="HK Grotesk"/>
              </a:rPr>
              <a:t>DATA</a:t>
            </a:r>
          </a:p>
          <a:p>
            <a:pPr algn="ctr">
              <a:lnSpc>
                <a:spcPts val="2160"/>
              </a:lnSpc>
            </a:pPr>
            <a:r>
              <a:rPr lang="en-US" sz="2000">
                <a:solidFill>
                  <a:srgbClr val="CEDEEB"/>
                </a:solidFill>
                <a:latin typeface="HK Grotesk"/>
                <a:ea typeface="HK Grotesk"/>
                <a:cs typeface="HK Grotesk"/>
                <a:sym typeface="HK Grotesk"/>
              </a:rPr>
              <a:t>PROCESSING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96458" y="7612464"/>
            <a:ext cx="3563270" cy="54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>
                <a:solidFill>
                  <a:srgbClr val="CEDEEB"/>
                </a:solidFill>
                <a:latin typeface="HK Grotesk"/>
                <a:ea typeface="HK Grotesk"/>
                <a:cs typeface="HK Grotesk"/>
                <a:sym typeface="HK Grotesk"/>
              </a:rPr>
              <a:t>TRANSLATION &amp;</a:t>
            </a:r>
          </a:p>
          <a:p>
            <a:pPr algn="ctr">
              <a:lnSpc>
                <a:spcPts val="2160"/>
              </a:lnSpc>
            </a:pPr>
            <a:r>
              <a:rPr lang="en-US" sz="2000">
                <a:solidFill>
                  <a:srgbClr val="CEDEEB"/>
                </a:solidFill>
                <a:latin typeface="HK Grotesk"/>
                <a:ea typeface="HK Grotesk"/>
                <a:cs typeface="HK Grotesk"/>
                <a:sym typeface="HK Grotesk"/>
              </a:rPr>
              <a:t>EXPANSION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90659" y="1194866"/>
            <a:ext cx="7831454" cy="131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9"/>
              </a:lnSpc>
            </a:pPr>
            <a:r>
              <a:rPr lang="en-US" sz="9999">
                <a:solidFill>
                  <a:srgbClr val="2B474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CHALLENGES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51724" y="5223926"/>
            <a:ext cx="3739422" cy="61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Maintaining Clinical Cont</a:t>
            </a:r>
            <a:r>
              <a:rPr lang="en-US" b="true" sz="2100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ext During Translation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54677" y="3245495"/>
            <a:ext cx="3739422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Entity Extraction in Ma</a:t>
            </a:r>
            <a:r>
              <a:rPr lang="en-US" b="true" sz="2100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rathi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51724" y="3245495"/>
            <a:ext cx="3831959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</a:t>
            </a:r>
            <a:r>
              <a:rPr lang="en-US" b="true" sz="2100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taset Language Limitation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45375" y="5143500"/>
            <a:ext cx="3558025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</a:t>
            </a:r>
            <a:r>
              <a:rPr lang="en-US" b="true" sz="2100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taset Expansion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51724" y="3627215"/>
            <a:ext cx="3431152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1400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Th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 </a:t>
            </a:r>
            <a:r>
              <a:rPr lang="en-US" b="true" sz="1400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DAIC-WOZ dataset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is originally in </a:t>
            </a:r>
            <a:r>
              <a:rPr lang="en-US" b="true" sz="1400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English,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while our system focuses on Marathi conversational data, requiring additional translation and preprocessing.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254969" y="3190621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51724" y="5908202"/>
            <a:ext cx="3431152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Direct translation sometimes produced </a:t>
            </a:r>
            <a:r>
              <a:rPr lang="en-US" b="true" sz="1400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incorrect or unnatural medical terminology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, making it difficult to preserve the clinical meaning of conversations.</a:t>
            </a:r>
          </a:p>
          <a:p>
            <a:pPr algn="just" marL="0" indent="0" lvl="0">
              <a:lnSpc>
                <a:spcPts val="189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084980" y="3627215"/>
            <a:ext cx="3431152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1400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Most 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existing </a:t>
            </a:r>
            <a:r>
              <a:rPr lang="en-US" b="true" sz="1400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NER models are designed for English, 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so identifying medical entities in Marathi conversations required additional rule-based patterns.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45375" y="5554474"/>
            <a:ext cx="3431152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1400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Synth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etic conversations generated using </a:t>
            </a:r>
            <a:r>
              <a:rPr lang="en-US" b="true" sz="1400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LLaMA 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sometimes produced </a:t>
            </a:r>
            <a:r>
              <a:rPr lang="en-US" b="true" sz="1400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hallucinated or clinically inconsistent information,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requiring additional validation to maintain dataset quality.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45375" y="7308979"/>
            <a:ext cx="3739422" cy="61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Generating</a:t>
            </a:r>
            <a:r>
              <a:rPr lang="en-US" b="true" sz="2100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Clinically Accurate SOAP Notes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5456" y="7759196"/>
            <a:ext cx="3431152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1400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Ma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rathi has several dialects such as </a:t>
            </a:r>
            <a:r>
              <a:rPr lang="en-US" b="true" sz="1400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Pune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b="true" sz="1400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Konkan, Vidarbha, and Marathwada,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wh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ic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in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tr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duce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variation in vocabulary and sentence structure.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05456" y="7379720"/>
            <a:ext cx="3831959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100" b="tru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</a:t>
            </a:r>
            <a:r>
              <a:rPr lang="en-US" b="true" sz="2100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alect Variations in Marathi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45375" y="7952458"/>
            <a:ext cx="3431152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90"/>
              </a:lnSpc>
              <a:spcBef>
                <a:spcPct val="0"/>
              </a:spcBef>
            </a:pPr>
            <a:r>
              <a:rPr lang="en-US" sz="1400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Ensur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ing that generated SOA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otes were struct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ur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ed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ci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se, a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d med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ically 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rel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va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nt 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requ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red care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f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ul pr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om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14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 design and validation.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78922" y="126321"/>
            <a:ext cx="3424225" cy="10034359"/>
          </a:xfrm>
          <a:custGeom>
            <a:avLst/>
            <a:gdLst/>
            <a:ahLst/>
            <a:cxnLst/>
            <a:rect r="r" b="b" t="t" l="l"/>
            <a:pathLst>
              <a:path h="10034359" w="3424225">
                <a:moveTo>
                  <a:pt x="0" y="0"/>
                </a:moveTo>
                <a:lnTo>
                  <a:pt x="3424225" y="0"/>
                </a:lnTo>
                <a:lnTo>
                  <a:pt x="3424225" y="10034358"/>
                </a:lnTo>
                <a:lnTo>
                  <a:pt x="0" y="10034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1705" y="5884812"/>
            <a:ext cx="6914101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000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Th</a:t>
            </a:r>
            <a:r>
              <a:rPr lang="en-US" sz="20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 proposed framework converts unstructured Marathi medical conversations into structured SOAP notes using a modular NLP pipeline. It combines </a:t>
            </a:r>
            <a:r>
              <a:rPr lang="en-US" b="true" sz="2000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entity extraction, contextual retrieval, language modeling, validation, and model learning</a:t>
            </a:r>
            <a:r>
              <a:rPr lang="en-US" sz="2000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to generate clinically meaningful documentation.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1705" y="2394971"/>
            <a:ext cx="9939062" cy="253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>
                <a:solidFill>
                  <a:srgbClr val="2B474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612068"/>
            <a:ext cx="12690673" cy="3646232"/>
            <a:chOff x="0" y="0"/>
            <a:chExt cx="3342400" cy="9603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42399" cy="960324"/>
            </a:xfrm>
            <a:custGeom>
              <a:avLst/>
              <a:gdLst/>
              <a:ahLst/>
              <a:cxnLst/>
              <a:rect r="r" b="b" t="t" l="l"/>
              <a:pathLst>
                <a:path h="960324" w="3342399">
                  <a:moveTo>
                    <a:pt x="19522" y="0"/>
                  </a:moveTo>
                  <a:lnTo>
                    <a:pt x="3322878" y="0"/>
                  </a:lnTo>
                  <a:cubicBezTo>
                    <a:pt x="3333659" y="0"/>
                    <a:pt x="3342399" y="8740"/>
                    <a:pt x="3342399" y="19522"/>
                  </a:cubicBezTo>
                  <a:lnTo>
                    <a:pt x="3342399" y="940803"/>
                  </a:lnTo>
                  <a:cubicBezTo>
                    <a:pt x="3342399" y="945980"/>
                    <a:pt x="3340343" y="950946"/>
                    <a:pt x="3336682" y="954607"/>
                  </a:cubicBezTo>
                  <a:cubicBezTo>
                    <a:pt x="3333021" y="958268"/>
                    <a:pt x="3328055" y="960324"/>
                    <a:pt x="3322878" y="960324"/>
                  </a:cubicBezTo>
                  <a:lnTo>
                    <a:pt x="19522" y="960324"/>
                  </a:lnTo>
                  <a:cubicBezTo>
                    <a:pt x="8740" y="960324"/>
                    <a:pt x="0" y="951584"/>
                    <a:pt x="0" y="940803"/>
                  </a:cubicBezTo>
                  <a:lnTo>
                    <a:pt x="0" y="19522"/>
                  </a:lnTo>
                  <a:cubicBezTo>
                    <a:pt x="0" y="8740"/>
                    <a:pt x="8740" y="0"/>
                    <a:pt x="19522" y="0"/>
                  </a:cubicBezTo>
                  <a:close/>
                </a:path>
              </a:pathLst>
            </a:custGeom>
            <a:solidFill>
              <a:srgbClr val="FBFBFA">
                <a:alpha val="9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42400" cy="100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 Extract medical entities from conversational therapy transcripts</a:t>
              </a:r>
            </a:p>
            <a:p>
              <a:pPr algn="just">
                <a:lnSpc>
                  <a:spcPts val="3079"/>
                </a:lnSpc>
              </a:pP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Use </a:t>
              </a:r>
              <a:r>
                <a:rPr lang="en-US" b="true" sz="2199">
                  <a:solidFill>
                    <a:srgbClr val="104378">
                      <a:alpha val="92941"/>
                    </a:srgbClr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BioBERT / IndicNER </a:t>
              </a: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models for biomedical entity recognition</a:t>
              </a:r>
            </a:p>
            <a:p>
              <a:pPr algn="just">
                <a:lnSpc>
                  <a:spcPts val="3079"/>
                </a:lnSpc>
              </a:pP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Apply </a:t>
              </a:r>
              <a:r>
                <a:rPr lang="en-US" b="true" sz="2199">
                  <a:solidFill>
                    <a:srgbClr val="104378">
                      <a:alpha val="92941"/>
                    </a:srgbClr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rule-based keyword matching</a:t>
              </a: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mental health terminology</a:t>
              </a:r>
            </a:p>
            <a:p>
              <a:pPr algn="just">
                <a:lnSpc>
                  <a:spcPts val="3079"/>
                </a:lnSpc>
              </a:pP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Handle code-mixed Marathi–English conversations</a:t>
              </a:r>
            </a:p>
            <a:p>
              <a:pPr algn="just">
                <a:lnSpc>
                  <a:spcPts val="3079"/>
                </a:lnSpc>
              </a:pP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Provide structured entities used by the RAG and LLM modules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200150"/>
            <a:ext cx="13999725" cy="1067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>
                <a:solidFill>
                  <a:srgbClr val="8C383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NAMED ENTITY RECOGNITION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96907"/>
            <a:ext cx="15503388" cy="117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29"/>
              </a:lnSpc>
              <a:spcBef>
                <a:spcPct val="0"/>
              </a:spcBef>
            </a:pP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Th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NER module extracts clinically relevant information from therapy conver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sat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ion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. A hybrid approach combining pretrained biomedical NER models, IndicNER model and rule-based keyword matching is u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se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d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to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id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ify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en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tal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ea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re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la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ted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entities from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Ma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rat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i and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En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lish co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v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er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at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on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al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xt</a:t>
            </a:r>
            <a:r>
              <a:rPr lang="en-US" sz="2317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733925"/>
            <a:ext cx="1550338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4"/>
              </a:lnSpc>
              <a:spcBef>
                <a:spcPct val="0"/>
              </a:spcBef>
            </a:pPr>
            <a:r>
              <a:rPr lang="en-US" sz="2499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NER aims to :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79421" y="3029204"/>
            <a:ext cx="3130802" cy="6356958"/>
          </a:xfrm>
          <a:custGeom>
            <a:avLst/>
            <a:gdLst/>
            <a:ahLst/>
            <a:cxnLst/>
            <a:rect r="r" b="b" t="t" l="l"/>
            <a:pathLst>
              <a:path h="6356958" w="3130802">
                <a:moveTo>
                  <a:pt x="0" y="0"/>
                </a:moveTo>
                <a:lnTo>
                  <a:pt x="3130801" y="0"/>
                </a:lnTo>
                <a:lnTo>
                  <a:pt x="313080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89931" y="1314881"/>
            <a:ext cx="12072764" cy="105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>
                <a:solidFill>
                  <a:srgbClr val="2B474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SOAP NOTE GENERATION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51724" y="3608165"/>
            <a:ext cx="8135151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Th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 system 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uses 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b="true" sz="1999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Retrieval-Augmented Generation (RAG) 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framework combined with a Large Language Model to generate clinically accurate SOAP notes. Clini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cal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knowledge retrieved from a </a:t>
            </a:r>
            <a:r>
              <a:rPr lang="en-US" b="true" sz="1999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vector database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is provided as contextual information to the </a:t>
            </a:r>
            <a:r>
              <a:rPr lang="en-US" b="true" sz="1999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LLM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, improving the accuracy and reliability of generated medical documentation.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51724" y="5757862"/>
            <a:ext cx="8135151" cy="3081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74"/>
              </a:lnSpc>
              <a:spcBef>
                <a:spcPct val="0"/>
              </a:spcBef>
            </a:pPr>
            <a:r>
              <a:rPr lang="en-US" b="true" sz="2499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</a:t>
            </a:r>
            <a:r>
              <a:rPr lang="en-US" b="true" sz="2499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ey Functions : </a:t>
            </a:r>
          </a:p>
          <a:p>
            <a:pPr algn="l" marL="431797" indent="-215899" lvl="1">
              <a:lnSpc>
                <a:spcPts val="2699"/>
              </a:lnSpc>
              <a:buFont typeface="Arial"/>
              <a:buChar char="•"/>
            </a:pP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AG r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etriev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es re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le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va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nt 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cli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ic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l 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erm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in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ology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from a vector database</a:t>
            </a:r>
          </a:p>
          <a:p>
            <a:pPr algn="l" marL="431797" indent="-215899" lvl="1">
              <a:lnSpc>
                <a:spcPts val="2699"/>
              </a:lnSpc>
              <a:buFont typeface="Arial"/>
              <a:buChar char="•"/>
            </a:pP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Uses </a:t>
            </a:r>
            <a:r>
              <a:rPr lang="en-US" b="true" sz="1999" u="none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ChromaDB vector 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similarity search to find related medical concepts</a:t>
            </a:r>
          </a:p>
          <a:p>
            <a:pPr algn="l" marL="431797" indent="-215899" lvl="1">
              <a:lnSpc>
                <a:spcPts val="2699"/>
              </a:lnSpc>
              <a:buFont typeface="Arial"/>
              <a:buChar char="•"/>
            </a:pP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Retrieved clini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cal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 context is passed to the LLM</a:t>
            </a:r>
          </a:p>
          <a:p>
            <a:pPr algn="l" marL="431797" indent="-215899" lvl="1">
              <a:lnSpc>
                <a:spcPts val="2699"/>
              </a:lnSpc>
              <a:buFont typeface="Arial"/>
              <a:buChar char="•"/>
            </a:pP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The 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LLM gener</a:t>
            </a: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ates structured SOAP notes based on conversation data and retrieved knowledge</a:t>
            </a:r>
          </a:p>
          <a:p>
            <a:pPr algn="l" marL="431797" indent="-215899" lvl="1">
              <a:lnSpc>
                <a:spcPts val="2699"/>
              </a:lnSpc>
              <a:buFont typeface="Arial"/>
              <a:buChar char="•"/>
            </a:pPr>
            <a:r>
              <a:rPr lang="en-US" sz="1999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Improves medical accuracy and contextual understanding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27971" y="1074233"/>
            <a:ext cx="8540910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2B474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QLORA FINE TUNING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96796" y="3179022"/>
            <a:ext cx="7079128" cy="2957232"/>
            <a:chOff x="0" y="0"/>
            <a:chExt cx="1864462" cy="7788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4462" cy="778859"/>
            </a:xfrm>
            <a:custGeom>
              <a:avLst/>
              <a:gdLst/>
              <a:ahLst/>
              <a:cxnLst/>
              <a:rect r="r" b="b" t="t" l="l"/>
              <a:pathLst>
                <a:path h="778859" w="1864462">
                  <a:moveTo>
                    <a:pt x="55775" y="0"/>
                  </a:moveTo>
                  <a:lnTo>
                    <a:pt x="1808687" y="0"/>
                  </a:lnTo>
                  <a:cubicBezTo>
                    <a:pt x="1823479" y="0"/>
                    <a:pt x="1837666" y="5876"/>
                    <a:pt x="1848126" y="16336"/>
                  </a:cubicBezTo>
                  <a:cubicBezTo>
                    <a:pt x="1858586" y="26796"/>
                    <a:pt x="1864462" y="40983"/>
                    <a:pt x="1864462" y="55775"/>
                  </a:cubicBezTo>
                  <a:lnTo>
                    <a:pt x="1864462" y="723084"/>
                  </a:lnTo>
                  <a:cubicBezTo>
                    <a:pt x="1864462" y="737877"/>
                    <a:pt x="1858586" y="752063"/>
                    <a:pt x="1848126" y="762523"/>
                  </a:cubicBezTo>
                  <a:cubicBezTo>
                    <a:pt x="1837666" y="772983"/>
                    <a:pt x="1823479" y="778859"/>
                    <a:pt x="1808687" y="778859"/>
                  </a:cubicBezTo>
                  <a:lnTo>
                    <a:pt x="55775" y="778859"/>
                  </a:lnTo>
                  <a:cubicBezTo>
                    <a:pt x="40983" y="778859"/>
                    <a:pt x="26796" y="772983"/>
                    <a:pt x="16336" y="762523"/>
                  </a:cubicBezTo>
                  <a:cubicBezTo>
                    <a:pt x="5876" y="752063"/>
                    <a:pt x="0" y="737877"/>
                    <a:pt x="0" y="723084"/>
                  </a:cubicBezTo>
                  <a:lnTo>
                    <a:pt x="0" y="55775"/>
                  </a:lnTo>
                  <a:cubicBezTo>
                    <a:pt x="0" y="40983"/>
                    <a:pt x="5876" y="26796"/>
                    <a:pt x="16336" y="16336"/>
                  </a:cubicBezTo>
                  <a:cubicBezTo>
                    <a:pt x="26796" y="5876"/>
                    <a:pt x="40983" y="0"/>
                    <a:pt x="55775" y="0"/>
                  </a:cubicBezTo>
                  <a:close/>
                </a:path>
              </a:pathLst>
            </a:custGeom>
            <a:solidFill>
              <a:srgbClr val="1F376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64462" cy="81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03356" y="3486244"/>
            <a:ext cx="426600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LoRA Adapter Layers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8493" y="4503480"/>
            <a:ext cx="6255735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FDFC"/>
                </a:solidFill>
                <a:latin typeface="HK Grotesk"/>
                <a:ea typeface="HK Grotesk"/>
                <a:cs typeface="HK Grotesk"/>
                <a:sym typeface="HK Grotesk"/>
              </a:rPr>
              <a:t>Instead of modifying all model p</a:t>
            </a:r>
            <a:r>
              <a:rPr lang="en-US" sz="1899">
                <a:solidFill>
                  <a:srgbClr val="FDFDFC"/>
                </a:solidFill>
                <a:latin typeface="HK Grotesk"/>
                <a:ea typeface="HK Grotesk"/>
                <a:cs typeface="HK Grotesk"/>
                <a:sym typeface="HK Grotesk"/>
              </a:rPr>
              <a:t>arameters, low-rank adapter matrices are inserted into attention layers (q_proj, k_proj, v_proj, o_proj) to learn task-specific behavior.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54648" y="3179022"/>
            <a:ext cx="7079128" cy="2957232"/>
            <a:chOff x="0" y="0"/>
            <a:chExt cx="1864462" cy="7788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4462" cy="778859"/>
            </a:xfrm>
            <a:custGeom>
              <a:avLst/>
              <a:gdLst/>
              <a:ahLst/>
              <a:cxnLst/>
              <a:rect r="r" b="b" t="t" l="l"/>
              <a:pathLst>
                <a:path h="778859" w="1864462">
                  <a:moveTo>
                    <a:pt x="55775" y="0"/>
                  </a:moveTo>
                  <a:lnTo>
                    <a:pt x="1808687" y="0"/>
                  </a:lnTo>
                  <a:cubicBezTo>
                    <a:pt x="1823479" y="0"/>
                    <a:pt x="1837666" y="5876"/>
                    <a:pt x="1848126" y="16336"/>
                  </a:cubicBezTo>
                  <a:cubicBezTo>
                    <a:pt x="1858586" y="26796"/>
                    <a:pt x="1864462" y="40983"/>
                    <a:pt x="1864462" y="55775"/>
                  </a:cubicBezTo>
                  <a:lnTo>
                    <a:pt x="1864462" y="723084"/>
                  </a:lnTo>
                  <a:cubicBezTo>
                    <a:pt x="1864462" y="737877"/>
                    <a:pt x="1858586" y="752063"/>
                    <a:pt x="1848126" y="762523"/>
                  </a:cubicBezTo>
                  <a:cubicBezTo>
                    <a:pt x="1837666" y="772983"/>
                    <a:pt x="1823479" y="778859"/>
                    <a:pt x="1808687" y="778859"/>
                  </a:cubicBezTo>
                  <a:lnTo>
                    <a:pt x="55775" y="778859"/>
                  </a:lnTo>
                  <a:cubicBezTo>
                    <a:pt x="40983" y="778859"/>
                    <a:pt x="26796" y="772983"/>
                    <a:pt x="16336" y="762523"/>
                  </a:cubicBezTo>
                  <a:cubicBezTo>
                    <a:pt x="5876" y="752063"/>
                    <a:pt x="0" y="737877"/>
                    <a:pt x="0" y="723084"/>
                  </a:cubicBezTo>
                  <a:lnTo>
                    <a:pt x="0" y="55775"/>
                  </a:lnTo>
                  <a:cubicBezTo>
                    <a:pt x="0" y="40983"/>
                    <a:pt x="5876" y="26796"/>
                    <a:pt x="16336" y="16336"/>
                  </a:cubicBezTo>
                  <a:cubicBezTo>
                    <a:pt x="26796" y="5876"/>
                    <a:pt x="40983" y="0"/>
                    <a:pt x="55775" y="0"/>
                  </a:cubicBezTo>
                  <a:close/>
                </a:path>
              </a:pathLst>
            </a:custGeom>
            <a:solidFill>
              <a:srgbClr val="1F376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64462" cy="81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951102" y="3486244"/>
            <a:ext cx="542463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Prompt-Response Training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66345" y="4503480"/>
            <a:ext cx="6255735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FDFC"/>
                </a:solidFill>
                <a:latin typeface="HK Grotesk"/>
                <a:ea typeface="HK Grotesk"/>
                <a:cs typeface="HK Grotesk"/>
                <a:sym typeface="HK Grotesk"/>
              </a:rPr>
              <a:t>Training data is formatted as prompt + response p</a:t>
            </a:r>
            <a:r>
              <a:rPr lang="en-US" sz="1899">
                <a:solidFill>
                  <a:srgbClr val="FDFDFC"/>
                </a:solidFill>
                <a:latin typeface="HK Grotesk"/>
                <a:ea typeface="HK Grotesk"/>
                <a:cs typeface="HK Grotesk"/>
                <a:sym typeface="HK Grotesk"/>
              </a:rPr>
              <a:t>airs, where therapy conversation inputs are mapped to structured SOAP note outputs.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02928" y="6832431"/>
            <a:ext cx="7079128" cy="2957232"/>
            <a:chOff x="0" y="0"/>
            <a:chExt cx="1864462" cy="7788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64462" cy="778859"/>
            </a:xfrm>
            <a:custGeom>
              <a:avLst/>
              <a:gdLst/>
              <a:ahLst/>
              <a:cxnLst/>
              <a:rect r="r" b="b" t="t" l="l"/>
              <a:pathLst>
                <a:path h="778859" w="1864462">
                  <a:moveTo>
                    <a:pt x="55775" y="0"/>
                  </a:moveTo>
                  <a:lnTo>
                    <a:pt x="1808687" y="0"/>
                  </a:lnTo>
                  <a:cubicBezTo>
                    <a:pt x="1823479" y="0"/>
                    <a:pt x="1837666" y="5876"/>
                    <a:pt x="1848126" y="16336"/>
                  </a:cubicBezTo>
                  <a:cubicBezTo>
                    <a:pt x="1858586" y="26796"/>
                    <a:pt x="1864462" y="40983"/>
                    <a:pt x="1864462" y="55775"/>
                  </a:cubicBezTo>
                  <a:lnTo>
                    <a:pt x="1864462" y="723084"/>
                  </a:lnTo>
                  <a:cubicBezTo>
                    <a:pt x="1864462" y="737877"/>
                    <a:pt x="1858586" y="752063"/>
                    <a:pt x="1848126" y="762523"/>
                  </a:cubicBezTo>
                  <a:cubicBezTo>
                    <a:pt x="1837666" y="772983"/>
                    <a:pt x="1823479" y="778859"/>
                    <a:pt x="1808687" y="778859"/>
                  </a:cubicBezTo>
                  <a:lnTo>
                    <a:pt x="55775" y="778859"/>
                  </a:lnTo>
                  <a:cubicBezTo>
                    <a:pt x="40983" y="778859"/>
                    <a:pt x="26796" y="772983"/>
                    <a:pt x="16336" y="762523"/>
                  </a:cubicBezTo>
                  <a:cubicBezTo>
                    <a:pt x="5876" y="752063"/>
                    <a:pt x="0" y="737877"/>
                    <a:pt x="0" y="723084"/>
                  </a:cubicBezTo>
                  <a:lnTo>
                    <a:pt x="0" y="55775"/>
                  </a:lnTo>
                  <a:cubicBezTo>
                    <a:pt x="0" y="40983"/>
                    <a:pt x="5876" y="26796"/>
                    <a:pt x="16336" y="16336"/>
                  </a:cubicBezTo>
                  <a:cubicBezTo>
                    <a:pt x="26796" y="5876"/>
                    <a:pt x="40983" y="0"/>
                    <a:pt x="55775" y="0"/>
                  </a:cubicBezTo>
                  <a:close/>
                </a:path>
              </a:pathLst>
            </a:custGeom>
            <a:solidFill>
              <a:srgbClr val="1F376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64462" cy="81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54648" y="6832431"/>
            <a:ext cx="7079128" cy="2957232"/>
            <a:chOff x="0" y="0"/>
            <a:chExt cx="1864462" cy="7788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64462" cy="778859"/>
            </a:xfrm>
            <a:custGeom>
              <a:avLst/>
              <a:gdLst/>
              <a:ahLst/>
              <a:cxnLst/>
              <a:rect r="r" b="b" t="t" l="l"/>
              <a:pathLst>
                <a:path h="778859" w="1864462">
                  <a:moveTo>
                    <a:pt x="55775" y="0"/>
                  </a:moveTo>
                  <a:lnTo>
                    <a:pt x="1808687" y="0"/>
                  </a:lnTo>
                  <a:cubicBezTo>
                    <a:pt x="1823479" y="0"/>
                    <a:pt x="1837666" y="5876"/>
                    <a:pt x="1848126" y="16336"/>
                  </a:cubicBezTo>
                  <a:cubicBezTo>
                    <a:pt x="1858586" y="26796"/>
                    <a:pt x="1864462" y="40983"/>
                    <a:pt x="1864462" y="55775"/>
                  </a:cubicBezTo>
                  <a:lnTo>
                    <a:pt x="1864462" y="723084"/>
                  </a:lnTo>
                  <a:cubicBezTo>
                    <a:pt x="1864462" y="737877"/>
                    <a:pt x="1858586" y="752063"/>
                    <a:pt x="1848126" y="762523"/>
                  </a:cubicBezTo>
                  <a:cubicBezTo>
                    <a:pt x="1837666" y="772983"/>
                    <a:pt x="1823479" y="778859"/>
                    <a:pt x="1808687" y="778859"/>
                  </a:cubicBezTo>
                  <a:lnTo>
                    <a:pt x="55775" y="778859"/>
                  </a:lnTo>
                  <a:cubicBezTo>
                    <a:pt x="40983" y="778859"/>
                    <a:pt x="26796" y="772983"/>
                    <a:pt x="16336" y="762523"/>
                  </a:cubicBezTo>
                  <a:cubicBezTo>
                    <a:pt x="5876" y="752063"/>
                    <a:pt x="0" y="737877"/>
                    <a:pt x="0" y="723084"/>
                  </a:cubicBezTo>
                  <a:lnTo>
                    <a:pt x="0" y="55775"/>
                  </a:lnTo>
                  <a:cubicBezTo>
                    <a:pt x="0" y="40983"/>
                    <a:pt x="5876" y="26796"/>
                    <a:pt x="16336" y="16336"/>
                  </a:cubicBezTo>
                  <a:cubicBezTo>
                    <a:pt x="26796" y="5876"/>
                    <a:pt x="40983" y="0"/>
                    <a:pt x="55775" y="0"/>
                  </a:cubicBezTo>
                  <a:close/>
                </a:path>
              </a:pathLst>
            </a:custGeom>
            <a:solidFill>
              <a:srgbClr val="1F376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64462" cy="81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222380" y="7062538"/>
            <a:ext cx="5827961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Parameter Efficient Learning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08858" y="7062538"/>
            <a:ext cx="377070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4-bit Quantization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14624" y="7971814"/>
            <a:ext cx="625573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FDFC"/>
                </a:solidFill>
                <a:latin typeface="HK Grotesk"/>
                <a:ea typeface="HK Grotesk"/>
                <a:cs typeface="HK Grotesk"/>
                <a:sym typeface="HK Grotesk"/>
              </a:rPr>
              <a:t>Only </a:t>
            </a:r>
            <a:r>
              <a:rPr lang="en-US" sz="1899">
                <a:solidFill>
                  <a:srgbClr val="FDFDFC"/>
                </a:solidFill>
                <a:latin typeface="HK Grotesk"/>
                <a:ea typeface="HK Grotesk"/>
                <a:cs typeface="HK Grotesk"/>
                <a:sym typeface="HK Grotesk"/>
              </a:rPr>
              <a:t>the LoRA adapter weights are updated during training, while the base model weights remain frozen.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35553" y="7971814"/>
            <a:ext cx="6255735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FDFC"/>
                </a:solidFill>
                <a:latin typeface="HK Grotesk"/>
                <a:ea typeface="HK Grotesk"/>
                <a:cs typeface="HK Grotesk"/>
                <a:sym typeface="HK Grotesk"/>
              </a:rPr>
              <a:t>The base LLM is loaded u</a:t>
            </a:r>
            <a:r>
              <a:rPr lang="en-US" sz="1899">
                <a:solidFill>
                  <a:srgbClr val="FDFDFC"/>
                </a:solidFill>
                <a:latin typeface="HK Grotesk"/>
                <a:ea typeface="HK Grotesk"/>
                <a:cs typeface="HK Grotesk"/>
                <a:sym typeface="HK Grotesk"/>
              </a:rPr>
              <a:t>sing 4-bit precision, significantly reducing memory usage and enabling efficient training on standard GPUs.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8200" y="5605142"/>
            <a:ext cx="7400925" cy="4076700"/>
          </a:xfrm>
          <a:custGeom>
            <a:avLst/>
            <a:gdLst/>
            <a:ahLst/>
            <a:cxnLst/>
            <a:rect r="r" b="b" t="t" l="l"/>
            <a:pathLst>
              <a:path h="4076700" w="7400925">
                <a:moveTo>
                  <a:pt x="0" y="0"/>
                </a:moveTo>
                <a:lnTo>
                  <a:pt x="7400925" y="0"/>
                </a:lnTo>
                <a:lnTo>
                  <a:pt x="74009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7" b="-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47987" y="5605142"/>
            <a:ext cx="7400925" cy="4076700"/>
          </a:xfrm>
          <a:custGeom>
            <a:avLst/>
            <a:gdLst/>
            <a:ahLst/>
            <a:cxnLst/>
            <a:rect r="r" b="b" t="t" l="l"/>
            <a:pathLst>
              <a:path h="4076700" w="7400925">
                <a:moveTo>
                  <a:pt x="0" y="0"/>
                </a:moveTo>
                <a:lnTo>
                  <a:pt x="7400925" y="0"/>
                </a:lnTo>
                <a:lnTo>
                  <a:pt x="74009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7" b="-5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85454" y="591503"/>
            <a:ext cx="13117092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>
                <a:solidFill>
                  <a:srgbClr val="8C383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ARCHITECTURE AND TRAINING PIPELINE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5206" y="4291346"/>
            <a:ext cx="13177589" cy="46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>
                <a:solidFill>
                  <a:srgbClr val="8C38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↓  Hallucination Filter + Text Cleaning  →  Timestamped Speaker-Labelled Transcript 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118869" y="2147494"/>
            <a:ext cx="12050262" cy="1677127"/>
            <a:chOff x="0" y="0"/>
            <a:chExt cx="16067017" cy="223617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3084583" cy="2236170"/>
              <a:chOff x="0" y="0"/>
              <a:chExt cx="609300" cy="44171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09300" cy="441713"/>
              </a:xfrm>
              <a:custGeom>
                <a:avLst/>
                <a:gdLst/>
                <a:ahLst/>
                <a:cxnLst/>
                <a:rect r="r" b="b" t="t" l="l"/>
                <a:pathLst>
                  <a:path h="441713" w="609300">
                    <a:moveTo>
                      <a:pt x="170672" y="0"/>
                    </a:moveTo>
                    <a:lnTo>
                      <a:pt x="438629" y="0"/>
                    </a:lnTo>
                    <a:cubicBezTo>
                      <a:pt x="483894" y="0"/>
                      <a:pt x="527305" y="17981"/>
                      <a:pt x="559312" y="49989"/>
                    </a:cubicBezTo>
                    <a:cubicBezTo>
                      <a:pt x="591319" y="81996"/>
                      <a:pt x="609300" y="125407"/>
                      <a:pt x="609300" y="170672"/>
                    </a:cubicBezTo>
                    <a:lnTo>
                      <a:pt x="609300" y="271041"/>
                    </a:lnTo>
                    <a:cubicBezTo>
                      <a:pt x="609300" y="365300"/>
                      <a:pt x="532888" y="441713"/>
                      <a:pt x="438629" y="441713"/>
                    </a:cubicBezTo>
                    <a:lnTo>
                      <a:pt x="170672" y="441713"/>
                    </a:lnTo>
                    <a:cubicBezTo>
                      <a:pt x="76412" y="441713"/>
                      <a:pt x="0" y="365300"/>
                      <a:pt x="0" y="271041"/>
                    </a:cubicBezTo>
                    <a:lnTo>
                      <a:pt x="0" y="170672"/>
                    </a:lnTo>
                    <a:cubicBezTo>
                      <a:pt x="0" y="76412"/>
                      <a:pt x="76412" y="0"/>
                      <a:pt x="170672" y="0"/>
                    </a:cubicBezTo>
                    <a:close/>
                  </a:path>
                </a:pathLst>
              </a:custGeom>
              <a:solidFill>
                <a:srgbClr val="1F3767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09300" cy="4798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50799" y="1079985"/>
              <a:ext cx="1982986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Parameters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(Whisper-tiny)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4324066" y="0"/>
              <a:ext cx="3084583" cy="2236170"/>
              <a:chOff x="0" y="0"/>
              <a:chExt cx="609300" cy="44171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09300" cy="441713"/>
              </a:xfrm>
              <a:custGeom>
                <a:avLst/>
                <a:gdLst/>
                <a:ahLst/>
                <a:cxnLst/>
                <a:rect r="r" b="b" t="t" l="l"/>
                <a:pathLst>
                  <a:path h="441713" w="609300">
                    <a:moveTo>
                      <a:pt x="170672" y="0"/>
                    </a:moveTo>
                    <a:lnTo>
                      <a:pt x="438629" y="0"/>
                    </a:lnTo>
                    <a:cubicBezTo>
                      <a:pt x="483894" y="0"/>
                      <a:pt x="527305" y="17981"/>
                      <a:pt x="559312" y="49989"/>
                    </a:cubicBezTo>
                    <a:cubicBezTo>
                      <a:pt x="591319" y="81996"/>
                      <a:pt x="609300" y="125407"/>
                      <a:pt x="609300" y="170672"/>
                    </a:cubicBezTo>
                    <a:lnTo>
                      <a:pt x="609300" y="271041"/>
                    </a:lnTo>
                    <a:cubicBezTo>
                      <a:pt x="609300" y="365300"/>
                      <a:pt x="532888" y="441713"/>
                      <a:pt x="438629" y="441713"/>
                    </a:cubicBezTo>
                    <a:lnTo>
                      <a:pt x="170672" y="441713"/>
                    </a:lnTo>
                    <a:cubicBezTo>
                      <a:pt x="76412" y="441713"/>
                      <a:pt x="0" y="365300"/>
                      <a:pt x="0" y="271041"/>
                    </a:cubicBezTo>
                    <a:lnTo>
                      <a:pt x="0" y="170672"/>
                    </a:lnTo>
                    <a:cubicBezTo>
                      <a:pt x="0" y="76412"/>
                      <a:pt x="76412" y="0"/>
                      <a:pt x="170672" y="0"/>
                    </a:cubicBezTo>
                    <a:close/>
                  </a:path>
                </a:pathLst>
              </a:custGeom>
              <a:solidFill>
                <a:srgbClr val="1F3767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09300" cy="4798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324066" y="1079985"/>
              <a:ext cx="3084583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DFDF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Training clips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DFDF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(aug. from 112)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8653250" y="0"/>
              <a:ext cx="3084583" cy="2236170"/>
              <a:chOff x="0" y="0"/>
              <a:chExt cx="609300" cy="44171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09300" cy="441713"/>
              </a:xfrm>
              <a:custGeom>
                <a:avLst/>
                <a:gdLst/>
                <a:ahLst/>
                <a:cxnLst/>
                <a:rect r="r" b="b" t="t" l="l"/>
                <a:pathLst>
                  <a:path h="441713" w="609300">
                    <a:moveTo>
                      <a:pt x="170672" y="0"/>
                    </a:moveTo>
                    <a:lnTo>
                      <a:pt x="438629" y="0"/>
                    </a:lnTo>
                    <a:cubicBezTo>
                      <a:pt x="483894" y="0"/>
                      <a:pt x="527305" y="17981"/>
                      <a:pt x="559312" y="49989"/>
                    </a:cubicBezTo>
                    <a:cubicBezTo>
                      <a:pt x="591319" y="81996"/>
                      <a:pt x="609300" y="125407"/>
                      <a:pt x="609300" y="170672"/>
                    </a:cubicBezTo>
                    <a:lnTo>
                      <a:pt x="609300" y="271041"/>
                    </a:lnTo>
                    <a:cubicBezTo>
                      <a:pt x="609300" y="365300"/>
                      <a:pt x="532888" y="441713"/>
                      <a:pt x="438629" y="441713"/>
                    </a:cubicBezTo>
                    <a:lnTo>
                      <a:pt x="170672" y="441713"/>
                    </a:lnTo>
                    <a:cubicBezTo>
                      <a:pt x="76412" y="441713"/>
                      <a:pt x="0" y="365300"/>
                      <a:pt x="0" y="271041"/>
                    </a:cubicBezTo>
                    <a:lnTo>
                      <a:pt x="0" y="170672"/>
                    </a:lnTo>
                    <a:cubicBezTo>
                      <a:pt x="0" y="76412"/>
                      <a:pt x="76412" y="0"/>
                      <a:pt x="170672" y="0"/>
                    </a:cubicBezTo>
                    <a:close/>
                  </a:path>
                </a:pathLst>
              </a:custGeom>
              <a:solidFill>
                <a:srgbClr val="1F376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09300" cy="4798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9025058" y="1079985"/>
              <a:ext cx="2340967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DFDF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English WER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DFDF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(medical test set)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2982433" y="0"/>
              <a:ext cx="3084583" cy="2236170"/>
              <a:chOff x="0" y="0"/>
              <a:chExt cx="609300" cy="4417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09300" cy="441713"/>
              </a:xfrm>
              <a:custGeom>
                <a:avLst/>
                <a:gdLst/>
                <a:ahLst/>
                <a:cxnLst/>
                <a:rect r="r" b="b" t="t" l="l"/>
                <a:pathLst>
                  <a:path h="441713" w="609300">
                    <a:moveTo>
                      <a:pt x="170672" y="0"/>
                    </a:moveTo>
                    <a:lnTo>
                      <a:pt x="438629" y="0"/>
                    </a:lnTo>
                    <a:cubicBezTo>
                      <a:pt x="483894" y="0"/>
                      <a:pt x="527305" y="17981"/>
                      <a:pt x="559312" y="49989"/>
                    </a:cubicBezTo>
                    <a:cubicBezTo>
                      <a:pt x="591319" y="81996"/>
                      <a:pt x="609300" y="125407"/>
                      <a:pt x="609300" y="170672"/>
                    </a:cubicBezTo>
                    <a:lnTo>
                      <a:pt x="609300" y="271041"/>
                    </a:lnTo>
                    <a:cubicBezTo>
                      <a:pt x="609300" y="365300"/>
                      <a:pt x="532888" y="441713"/>
                      <a:pt x="438629" y="441713"/>
                    </a:cubicBezTo>
                    <a:lnTo>
                      <a:pt x="170672" y="441713"/>
                    </a:lnTo>
                    <a:cubicBezTo>
                      <a:pt x="76412" y="441713"/>
                      <a:pt x="0" y="365300"/>
                      <a:pt x="0" y="271041"/>
                    </a:cubicBezTo>
                    <a:lnTo>
                      <a:pt x="0" y="170672"/>
                    </a:lnTo>
                    <a:cubicBezTo>
                      <a:pt x="0" y="76412"/>
                      <a:pt x="76412" y="0"/>
                      <a:pt x="170672" y="0"/>
                    </a:cubicBezTo>
                    <a:close/>
                  </a:path>
                </a:pathLst>
              </a:custGeom>
              <a:solidFill>
                <a:srgbClr val="1F3767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09300" cy="4798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2982433" y="1079985"/>
              <a:ext cx="3084583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DFDF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Inference version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DFDFC"/>
                  </a:solidFill>
                  <a:latin typeface="HK Grotesk"/>
                  <a:ea typeface="HK Grotesk"/>
                  <a:cs typeface="HK Grotesk"/>
                  <a:sym typeface="HK Grotesk"/>
                </a:rPr>
                <a:t>(halluc. suppressed)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799864" y="2257851"/>
            <a:ext cx="931515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39M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95778" y="2257851"/>
            <a:ext cx="79548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448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14687" y="2257851"/>
            <a:ext cx="874068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20%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05513" y="2257851"/>
            <a:ext cx="564952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1199" y="5781870"/>
            <a:ext cx="7465198" cy="3606213"/>
          </a:xfrm>
          <a:custGeom>
            <a:avLst/>
            <a:gdLst/>
            <a:ahLst/>
            <a:cxnLst/>
            <a:rect r="r" b="b" t="t" l="l"/>
            <a:pathLst>
              <a:path h="3606213" w="7465198">
                <a:moveTo>
                  <a:pt x="0" y="0"/>
                </a:moveTo>
                <a:lnTo>
                  <a:pt x="7465198" y="0"/>
                </a:lnTo>
                <a:lnTo>
                  <a:pt x="7465198" y="3606213"/>
                </a:lnTo>
                <a:lnTo>
                  <a:pt x="0" y="3606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60479" y="2226906"/>
            <a:ext cx="8798821" cy="2509353"/>
          </a:xfrm>
          <a:custGeom>
            <a:avLst/>
            <a:gdLst/>
            <a:ahLst/>
            <a:cxnLst/>
            <a:rect r="r" b="b" t="t" l="l"/>
            <a:pathLst>
              <a:path h="2509353" w="8798821">
                <a:moveTo>
                  <a:pt x="0" y="0"/>
                </a:moveTo>
                <a:lnTo>
                  <a:pt x="8798821" y="0"/>
                </a:lnTo>
                <a:lnTo>
                  <a:pt x="8798821" y="2509353"/>
                </a:lnTo>
                <a:lnTo>
                  <a:pt x="0" y="2509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9392" y="2080040"/>
            <a:ext cx="6888811" cy="3086100"/>
            <a:chOff x="0" y="0"/>
            <a:chExt cx="1814337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14337" cy="812800"/>
            </a:xfrm>
            <a:custGeom>
              <a:avLst/>
              <a:gdLst/>
              <a:ahLst/>
              <a:cxnLst/>
              <a:rect r="r" b="b" t="t" l="l"/>
              <a:pathLst>
                <a:path h="812800" w="1814337">
                  <a:moveTo>
                    <a:pt x="57316" y="0"/>
                  </a:moveTo>
                  <a:lnTo>
                    <a:pt x="1757021" y="0"/>
                  </a:lnTo>
                  <a:cubicBezTo>
                    <a:pt x="1772222" y="0"/>
                    <a:pt x="1786801" y="6039"/>
                    <a:pt x="1797550" y="16787"/>
                  </a:cubicBezTo>
                  <a:cubicBezTo>
                    <a:pt x="1808299" y="27536"/>
                    <a:pt x="1814337" y="42115"/>
                    <a:pt x="1814337" y="57316"/>
                  </a:cubicBezTo>
                  <a:lnTo>
                    <a:pt x="1814337" y="755484"/>
                  </a:lnTo>
                  <a:cubicBezTo>
                    <a:pt x="1814337" y="770685"/>
                    <a:pt x="1808299" y="785264"/>
                    <a:pt x="1797550" y="796013"/>
                  </a:cubicBezTo>
                  <a:cubicBezTo>
                    <a:pt x="1786801" y="806761"/>
                    <a:pt x="1772222" y="812800"/>
                    <a:pt x="1757021" y="812800"/>
                  </a:cubicBezTo>
                  <a:lnTo>
                    <a:pt x="57316" y="812800"/>
                  </a:lnTo>
                  <a:cubicBezTo>
                    <a:pt x="42115" y="812800"/>
                    <a:pt x="27536" y="806761"/>
                    <a:pt x="16787" y="796013"/>
                  </a:cubicBezTo>
                  <a:cubicBezTo>
                    <a:pt x="6039" y="785264"/>
                    <a:pt x="0" y="770685"/>
                    <a:pt x="0" y="755484"/>
                  </a:cubicBezTo>
                  <a:lnTo>
                    <a:pt x="0" y="57316"/>
                  </a:lnTo>
                  <a:cubicBezTo>
                    <a:pt x="0" y="42115"/>
                    <a:pt x="6039" y="27536"/>
                    <a:pt x="16787" y="16787"/>
                  </a:cubicBezTo>
                  <a:cubicBezTo>
                    <a:pt x="27536" y="6039"/>
                    <a:pt x="42115" y="0"/>
                    <a:pt x="5731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1433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01826" y="591503"/>
            <a:ext cx="15884349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>
                <a:solidFill>
                  <a:srgbClr val="8C383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TRAINING RESULTS &amp; HALLUCINATION CONTROL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076" y="3081319"/>
            <a:ext cx="5655731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1C2120"/>
                </a:solidFill>
                <a:latin typeface="HK Grotesk"/>
                <a:ea typeface="HK Grotesk"/>
                <a:cs typeface="HK Grotesk"/>
                <a:sym typeface="HK Grotesk"/>
              </a:rPr>
              <a:t>On silent/noisy chunks, Whisper generates plausible-sounding text instead of nothing — looping high-probability phrases indefinitely. A known failure mode of all autoregressive models.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0570" y="2496874"/>
            <a:ext cx="492874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⚠  What is Whisper Hallucination?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86613" y="5166140"/>
            <a:ext cx="8499561" cy="4587374"/>
            <a:chOff x="0" y="0"/>
            <a:chExt cx="2238568" cy="12081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8568" cy="1208197"/>
            </a:xfrm>
            <a:custGeom>
              <a:avLst/>
              <a:gdLst/>
              <a:ahLst/>
              <a:cxnLst/>
              <a:rect r="r" b="b" t="t" l="l"/>
              <a:pathLst>
                <a:path h="1208197" w="2238568">
                  <a:moveTo>
                    <a:pt x="46454" y="0"/>
                  </a:moveTo>
                  <a:lnTo>
                    <a:pt x="2192114" y="0"/>
                  </a:lnTo>
                  <a:cubicBezTo>
                    <a:pt x="2204434" y="0"/>
                    <a:pt x="2216250" y="4894"/>
                    <a:pt x="2224962" y="13606"/>
                  </a:cubicBezTo>
                  <a:cubicBezTo>
                    <a:pt x="2233673" y="22318"/>
                    <a:pt x="2238568" y="34134"/>
                    <a:pt x="2238568" y="46454"/>
                  </a:cubicBezTo>
                  <a:lnTo>
                    <a:pt x="2238568" y="1161743"/>
                  </a:lnTo>
                  <a:cubicBezTo>
                    <a:pt x="2238568" y="1187399"/>
                    <a:pt x="2217769" y="1208197"/>
                    <a:pt x="2192114" y="1208197"/>
                  </a:cubicBezTo>
                  <a:lnTo>
                    <a:pt x="46454" y="1208197"/>
                  </a:lnTo>
                  <a:cubicBezTo>
                    <a:pt x="34134" y="1208197"/>
                    <a:pt x="22318" y="1203303"/>
                    <a:pt x="13606" y="1194591"/>
                  </a:cubicBezTo>
                  <a:cubicBezTo>
                    <a:pt x="4894" y="1185880"/>
                    <a:pt x="0" y="1174064"/>
                    <a:pt x="0" y="1161743"/>
                  </a:cubicBezTo>
                  <a:lnTo>
                    <a:pt x="0" y="46454"/>
                  </a:lnTo>
                  <a:cubicBezTo>
                    <a:pt x="0" y="34134"/>
                    <a:pt x="4894" y="22318"/>
                    <a:pt x="13606" y="13606"/>
                  </a:cubicBezTo>
                  <a:cubicBezTo>
                    <a:pt x="22318" y="4894"/>
                    <a:pt x="34134" y="0"/>
                    <a:pt x="46454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238568" cy="1255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98591" y="5298234"/>
            <a:ext cx="5075606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3-Layer Fix (v4)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8955" y="5868569"/>
            <a:ext cx="10912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①  VAD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16455" y="6315616"/>
            <a:ext cx="691350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Skip chunks where &lt;10% of 20ms frames have speech energy — silent segments never reach Whisper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78516" y="7103011"/>
            <a:ext cx="324728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② Generation penalties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98707" y="7546877"/>
            <a:ext cx="551371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no_repeat_ngram_size = 3 blocks 3-word loops repetition_penalty = 1.2 penalises repeated tokens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78516" y="8403492"/>
            <a:ext cx="185439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③  Post-filter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98707" y="8910955"/>
            <a:ext cx="612565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Unique word ratio &lt;25% → discard · Known hallucination phrase blacklist · Sentence deduplication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75758" y="838200"/>
            <a:ext cx="13536484" cy="3181074"/>
          </a:xfrm>
          <a:custGeom>
            <a:avLst/>
            <a:gdLst/>
            <a:ahLst/>
            <a:cxnLst/>
            <a:rect r="r" b="b" t="t" l="l"/>
            <a:pathLst>
              <a:path h="3181074" w="13536484">
                <a:moveTo>
                  <a:pt x="0" y="0"/>
                </a:moveTo>
                <a:lnTo>
                  <a:pt x="13536484" y="0"/>
                </a:lnTo>
                <a:lnTo>
                  <a:pt x="13536484" y="3181074"/>
                </a:lnTo>
                <a:lnTo>
                  <a:pt x="0" y="3181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276" y="5095875"/>
            <a:ext cx="451767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Root Cause — High Marathi WER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7974" y="5757352"/>
            <a:ext cx="6595046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Training used gTTS synthetic voice — robotic, flat, no background noise. Real doctor-patient speech has natural intonation, fast speech and overlapping voices. The model learned the right words but the wrong acoustic patterns.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Fix: EkaCare clinical conversations + AI4Bharat IndicVoices-R (1,704 hrs, 10,496 real speakers).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Expected WER after retrain: &lt;25% Marathi, &lt;8% English.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4446" y="4796071"/>
            <a:ext cx="7393593" cy="4587374"/>
            <a:chOff x="0" y="0"/>
            <a:chExt cx="1947284" cy="12081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47284" cy="1208197"/>
            </a:xfrm>
            <a:custGeom>
              <a:avLst/>
              <a:gdLst/>
              <a:ahLst/>
              <a:cxnLst/>
              <a:rect r="r" b="b" t="t" l="l"/>
              <a:pathLst>
                <a:path h="1208197" w="1947284">
                  <a:moveTo>
                    <a:pt x="53403" y="0"/>
                  </a:moveTo>
                  <a:lnTo>
                    <a:pt x="1893881" y="0"/>
                  </a:lnTo>
                  <a:cubicBezTo>
                    <a:pt x="1908044" y="0"/>
                    <a:pt x="1921628" y="5626"/>
                    <a:pt x="1931643" y="15641"/>
                  </a:cubicBezTo>
                  <a:cubicBezTo>
                    <a:pt x="1941657" y="25656"/>
                    <a:pt x="1947284" y="39239"/>
                    <a:pt x="1947284" y="53403"/>
                  </a:cubicBezTo>
                  <a:lnTo>
                    <a:pt x="1947284" y="1154795"/>
                  </a:lnTo>
                  <a:cubicBezTo>
                    <a:pt x="1947284" y="1168958"/>
                    <a:pt x="1941657" y="1182541"/>
                    <a:pt x="1931643" y="1192556"/>
                  </a:cubicBezTo>
                  <a:cubicBezTo>
                    <a:pt x="1921628" y="1202571"/>
                    <a:pt x="1908044" y="1208197"/>
                    <a:pt x="1893881" y="1208197"/>
                  </a:cubicBezTo>
                  <a:lnTo>
                    <a:pt x="53403" y="1208197"/>
                  </a:lnTo>
                  <a:cubicBezTo>
                    <a:pt x="39239" y="1208197"/>
                    <a:pt x="25656" y="1202571"/>
                    <a:pt x="15641" y="1192556"/>
                  </a:cubicBezTo>
                  <a:cubicBezTo>
                    <a:pt x="5626" y="1182541"/>
                    <a:pt x="0" y="1168958"/>
                    <a:pt x="0" y="1154795"/>
                  </a:cubicBezTo>
                  <a:lnTo>
                    <a:pt x="0" y="53403"/>
                  </a:lnTo>
                  <a:cubicBezTo>
                    <a:pt x="0" y="39239"/>
                    <a:pt x="5626" y="25656"/>
                    <a:pt x="15641" y="15641"/>
                  </a:cubicBezTo>
                  <a:cubicBezTo>
                    <a:pt x="25656" y="5626"/>
                    <a:pt x="39239" y="0"/>
                    <a:pt x="5340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47284" cy="1255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43365" y="4853997"/>
            <a:ext cx="8514711" cy="4587374"/>
            <a:chOff x="0" y="0"/>
            <a:chExt cx="2242558" cy="12081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2558" cy="1208197"/>
            </a:xfrm>
            <a:custGeom>
              <a:avLst/>
              <a:gdLst/>
              <a:ahLst/>
              <a:cxnLst/>
              <a:rect r="r" b="b" t="t" l="l"/>
              <a:pathLst>
                <a:path h="1208197" w="2242558">
                  <a:moveTo>
                    <a:pt x="46371" y="0"/>
                  </a:moveTo>
                  <a:lnTo>
                    <a:pt x="2196186" y="0"/>
                  </a:lnTo>
                  <a:cubicBezTo>
                    <a:pt x="2221797" y="0"/>
                    <a:pt x="2242558" y="20761"/>
                    <a:pt x="2242558" y="46371"/>
                  </a:cubicBezTo>
                  <a:lnTo>
                    <a:pt x="2242558" y="1161826"/>
                  </a:lnTo>
                  <a:cubicBezTo>
                    <a:pt x="2242558" y="1174125"/>
                    <a:pt x="2237672" y="1185919"/>
                    <a:pt x="2228976" y="1194616"/>
                  </a:cubicBezTo>
                  <a:cubicBezTo>
                    <a:pt x="2220280" y="1203312"/>
                    <a:pt x="2208485" y="1208197"/>
                    <a:pt x="2196186" y="1208197"/>
                  </a:cubicBezTo>
                  <a:lnTo>
                    <a:pt x="46371" y="1208197"/>
                  </a:lnTo>
                  <a:cubicBezTo>
                    <a:pt x="34073" y="1208197"/>
                    <a:pt x="22278" y="1203312"/>
                    <a:pt x="13582" y="1194616"/>
                  </a:cubicBezTo>
                  <a:cubicBezTo>
                    <a:pt x="4886" y="1185919"/>
                    <a:pt x="0" y="1174125"/>
                    <a:pt x="0" y="1161826"/>
                  </a:cubicBezTo>
                  <a:lnTo>
                    <a:pt x="0" y="46371"/>
                  </a:lnTo>
                  <a:cubicBezTo>
                    <a:pt x="0" y="34073"/>
                    <a:pt x="4886" y="22278"/>
                    <a:pt x="13582" y="13582"/>
                  </a:cubicBezTo>
                  <a:cubicBezTo>
                    <a:pt x="22278" y="4886"/>
                    <a:pt x="34073" y="0"/>
                    <a:pt x="46371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2558" cy="1255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120096" y="5095875"/>
            <a:ext cx="395219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Key Technical Contributions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3060" y="5633527"/>
            <a:ext cx="283337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Multilingual fine-tuning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5164" y="6011704"/>
            <a:ext cx="346196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First Whisper fine-tune for MR-EN code-switched medical speech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73962" y="6824470"/>
            <a:ext cx="146984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Custom VAD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5164" y="7204835"/>
            <a:ext cx="346196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RMS + 20ms frame analysis, no external library, no ffmpeg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02537" y="7993363"/>
            <a:ext cx="224775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Production inference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5164" y="8373728"/>
            <a:ext cx="339897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28-min audio tested, speaker hints, .txt+.json output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70091" y="5633527"/>
            <a:ext cx="296629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augmentation pipeline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53136" y="6011704"/>
            <a:ext cx="3634739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8 transforms, 4× dataset multiplication, no extra recordings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51784" y="6824470"/>
            <a:ext cx="27835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Hallucination suppression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53136" y="7204835"/>
            <a:ext cx="380287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3-layer: generation penalties + unique ratio + phrase blacklist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03564" y="7993363"/>
            <a:ext cx="281969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Full evaluation framework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17716" y="8373728"/>
            <a:ext cx="401349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WER/CER per language, examples.csv for targeted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8657" y="3226020"/>
            <a:ext cx="806859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b="true" sz="2499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1.PHQ-8 DE</a:t>
            </a:r>
            <a:r>
              <a:rPr lang="en-US" b="true" sz="2499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PRESSION QUESTIONNAIRE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54896" y="1324519"/>
            <a:ext cx="9578208" cy="87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sz="6800">
                <a:solidFill>
                  <a:srgbClr val="2B474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8657" y="3578513"/>
            <a:ext cx="6240590" cy="16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896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Patient Health Questionnaire-8 (PHQ-8) is a validated tool used to measure depressive symptoms and severity in clinical studies. </a:t>
            </a:r>
          </a:p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896" u="none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https://selfmanagementresource.com/wpcontent/uploads/English_-_PHQ-8-1.pdf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58657" y="5732451"/>
            <a:ext cx="806859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b="true" sz="2499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2.DAIC-WOZ DATA</a:t>
            </a:r>
            <a:r>
              <a:rPr lang="en-US" b="true" sz="2499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8657" y="6084876"/>
            <a:ext cx="6240590" cy="9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896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1896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istress Analysis Interview Corpus – Wizard of Oz dataset used for depression analysis from clinical i</a:t>
            </a:r>
            <a:r>
              <a:rPr lang="en-US" sz="1896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nterviews.</a:t>
            </a:r>
          </a:p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896" u="none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https://dcapswoz.ict.usc.edu/wwwdaicwoz/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0905" y="8276914"/>
            <a:ext cx="641834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b="true" sz="2499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3.AUTOMATIC SOAP NOTE GENERATION </a:t>
            </a:r>
            <a:r>
              <a:rPr lang="en-US" b="true" sz="2499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– COEP TECHNOLOGICAL UNIVERSITY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226020"/>
            <a:ext cx="806859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b="true" sz="2499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4.AI4BHARAT – INDIC NLP</a:t>
            </a:r>
            <a:r>
              <a:rPr lang="en-US" b="true" sz="2499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RESOURCES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531795"/>
            <a:ext cx="6240590" cy="193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896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AI4Bhar</a:t>
            </a:r>
            <a:r>
              <a:rPr lang="en-US" sz="1896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at is an open research initiative from IIT Madras focused on developing open-source datasets, models and tools for Indian languages. It provides multilingual NLP resources such as IndicNER and translation models supporting multiple Indic languages.</a:t>
            </a:r>
          </a:p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896" u="sng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  <a:hlinkClick r:id="rId2" tooltip="https://ai4bharat.iitm.ac.in"/>
              </a:rPr>
              <a:t>https://ai4bharat.iitm.ac.in/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5707947"/>
            <a:ext cx="806859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b="true" sz="2499">
                <a:solidFill>
                  <a:srgbClr val="2B474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5. EMOINHINDI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6022271"/>
            <a:ext cx="6240590" cy="16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896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Singh, G.V., Priya, P., Firdaus, M., Ekbal, A., &amp; Bhattacharyya, P. (2022)</a:t>
            </a:r>
          </a:p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896" u="none">
                <a:solidFill>
                  <a:srgbClr val="2B4743"/>
                </a:solidFill>
                <a:latin typeface="HK Grotesk"/>
                <a:ea typeface="HK Grotesk"/>
                <a:cs typeface="HK Grotesk"/>
                <a:sym typeface="HK Grotesk"/>
              </a:rPr>
              <a:t>EmoInHindi: A Multi-label Emotion and Intensity Annotated Dataset in Hindi for Emotion Recognition in Dialogues.</a:t>
            </a:r>
          </a:p>
          <a:p>
            <a:pPr algn="just" marL="0" indent="0" lvl="0">
              <a:lnSpc>
                <a:spcPts val="2559"/>
              </a:lnSpc>
              <a:spcBef>
                <a:spcPct val="0"/>
              </a:spcBef>
            </a:pPr>
            <a:r>
              <a:rPr lang="en-US" sz="1896" u="none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https://github.com/TusharD-047/EmoInHindi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44604" y="906071"/>
            <a:ext cx="7999053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9"/>
              </a:lnSpc>
            </a:pPr>
            <a:r>
              <a:rPr lang="en-US" sz="6999">
                <a:solidFill>
                  <a:srgbClr val="8C383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3908" y="4116347"/>
            <a:ext cx="2169471" cy="26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8"/>
              </a:lnSpc>
            </a:pPr>
            <a:r>
              <a:rPr lang="en-US" sz="1859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Management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71834" y="3954422"/>
            <a:ext cx="2169471" cy="26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8"/>
              </a:lnSpc>
            </a:pPr>
            <a:r>
              <a:rPr lang="en-US" sz="1859">
                <a:solidFill>
                  <a:srgbClr val="FFD3DB"/>
                </a:solidFill>
                <a:latin typeface="HK Grotesk"/>
                <a:ea typeface="HK Grotesk"/>
                <a:cs typeface="HK Grotesk"/>
                <a:sym typeface="HK Grotesk"/>
              </a:rPr>
              <a:t>Management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204880" y="3078892"/>
            <a:ext cx="13878240" cy="6770432"/>
            <a:chOff x="0" y="0"/>
            <a:chExt cx="3655174" cy="17831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5175" cy="1783159"/>
            </a:xfrm>
            <a:custGeom>
              <a:avLst/>
              <a:gdLst/>
              <a:ahLst/>
              <a:cxnLst/>
              <a:rect r="r" b="b" t="t" l="l"/>
              <a:pathLst>
                <a:path h="1783159" w="3655175">
                  <a:moveTo>
                    <a:pt x="17851" y="0"/>
                  </a:moveTo>
                  <a:lnTo>
                    <a:pt x="3637323" y="0"/>
                  </a:lnTo>
                  <a:cubicBezTo>
                    <a:pt x="3642058" y="0"/>
                    <a:pt x="3646598" y="1881"/>
                    <a:pt x="3649946" y="5228"/>
                  </a:cubicBezTo>
                  <a:cubicBezTo>
                    <a:pt x="3653294" y="8576"/>
                    <a:pt x="3655175" y="13117"/>
                    <a:pt x="3655175" y="17851"/>
                  </a:cubicBezTo>
                  <a:lnTo>
                    <a:pt x="3655175" y="1765308"/>
                  </a:lnTo>
                  <a:cubicBezTo>
                    <a:pt x="3655175" y="1775167"/>
                    <a:pt x="3647182" y="1783159"/>
                    <a:pt x="3637323" y="1783159"/>
                  </a:cubicBezTo>
                  <a:lnTo>
                    <a:pt x="17851" y="1783159"/>
                  </a:lnTo>
                  <a:cubicBezTo>
                    <a:pt x="13117" y="1783159"/>
                    <a:pt x="8576" y="1781278"/>
                    <a:pt x="5228" y="1777931"/>
                  </a:cubicBezTo>
                  <a:cubicBezTo>
                    <a:pt x="1881" y="1774583"/>
                    <a:pt x="0" y="1770042"/>
                    <a:pt x="0" y="1765308"/>
                  </a:cubicBezTo>
                  <a:lnTo>
                    <a:pt x="0" y="17851"/>
                  </a:lnTo>
                  <a:cubicBezTo>
                    <a:pt x="0" y="7992"/>
                    <a:pt x="7992" y="0"/>
                    <a:pt x="17851" y="0"/>
                  </a:cubicBezTo>
                  <a:close/>
                </a:path>
              </a:pathLst>
            </a:custGeom>
            <a:solidFill>
              <a:srgbClr val="FBFBFA">
                <a:alpha val="92941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655174" cy="1830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079"/>
                </a:lnSpc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This project presents a </a:t>
              </a:r>
              <a:r>
                <a:rPr lang="en-US" sz="2199" b="true">
                  <a:solidFill>
                    <a:srgbClr val="104378">
                      <a:alpha val="92941"/>
                    </a:srgbClr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modular NLP pipeline for automated SOAP note generation</a:t>
              </a: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199" b="true">
                  <a:solidFill>
                    <a:srgbClr val="104378">
                      <a:alpha val="92941"/>
                    </a:srgbClr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from Marathi therapy conversations. </a:t>
              </a: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By combining speech processing, entity extraction, contextual retrieval, and large language models, the system transforms unstructured conversational data into structured clinical documentation.</a:t>
              </a:r>
            </a:p>
            <a:p>
              <a:pPr algn="just">
                <a:lnSpc>
                  <a:spcPts val="3079"/>
                </a:lnSpc>
              </a:pPr>
            </a:p>
            <a:p>
              <a:pPr algn="just">
                <a:lnSpc>
                  <a:spcPts val="3079"/>
                </a:lnSpc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proposed architecture integrates </a:t>
              </a:r>
              <a:r>
                <a:rPr lang="en-US" sz="2199" b="true">
                  <a:solidFill>
                    <a:srgbClr val="104378">
                      <a:alpha val="92941"/>
                    </a:srgbClr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Named Entity Recognition (NER), Retrieval-Augmented Generation (RAG), and Large Language Models (LLMs) </a:t>
              </a: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accurately identify medical entities, retrieve relevant clinical terminology, and generate structured SOAP notes. The system further incorporates validation mechanisms and </a:t>
              </a:r>
              <a:r>
                <a:rPr lang="en-US" sz="2199" b="true">
                  <a:solidFill>
                    <a:srgbClr val="104378">
                      <a:alpha val="92941"/>
                    </a:srgbClr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QLoRA-based fine-tuning </a:t>
              </a: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improve model reliability and adaptability.</a:t>
              </a:r>
            </a:p>
            <a:p>
              <a:pPr algn="just">
                <a:lnSpc>
                  <a:spcPts val="3079"/>
                </a:lnSpc>
              </a:pPr>
            </a:p>
            <a:p>
              <a:pPr algn="just">
                <a:lnSpc>
                  <a:spcPts val="3079"/>
                </a:lnSpc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Experimental results demonstrate that the pipeline can effectively capture</a:t>
              </a:r>
              <a:r>
                <a:rPr lang="en-US" sz="2199" b="true">
                  <a:solidFill>
                    <a:srgbClr val="104378">
                      <a:alpha val="92941"/>
                    </a:srgbClr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clinical information from conversational text and convert it into standardized medical documentation, </a:t>
              </a: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supporting automated healthcare record generation.</a:t>
              </a:r>
            </a:p>
            <a:p>
              <a:pPr algn="just">
                <a:lnSpc>
                  <a:spcPts val="3079"/>
                </a:lnSpc>
              </a:pPr>
            </a:p>
            <a:p>
              <a:pPr algn="just">
                <a:lnSpc>
                  <a:spcPts val="3079"/>
                </a:lnSpc>
              </a:pP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Overall, the proposed framework contributes toward </a:t>
              </a:r>
              <a:r>
                <a:rPr lang="en-US" sz="2199" b="true">
                  <a:solidFill>
                    <a:srgbClr val="104378">
                      <a:alpha val="92941"/>
                    </a:srgbClr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AI-assisted clinical documentation for Indic languages</a:t>
              </a:r>
              <a:r>
                <a:rPr lang="en-US" sz="2199">
                  <a:solidFill>
                    <a:srgbClr val="104378">
                      <a:alpha val="92941"/>
                    </a:srgbClr>
                  </a:solidFill>
                  <a:latin typeface="HK Grotesk"/>
                  <a:ea typeface="HK Grotesk"/>
                  <a:cs typeface="HK Grotesk"/>
                  <a:sym typeface="HK Grotesk"/>
                </a:rPr>
                <a:t>, helping reduce manual workload for healthcare professionals while improving accessibility of medical NLP systems for regional languages.</a:t>
              </a:r>
            </a:p>
            <a:p>
              <a:pPr algn="just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516770"/>
            <a:ext cx="11923966" cy="277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sz="12023">
                <a:solidFill>
                  <a:srgbClr val="2B474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DAHDhW9Hsek</dc:identifier>
  <dcterms:modified xsi:type="dcterms:W3CDTF">2011-08-01T06:04:30Z</dcterms:modified>
  <cp:revision>1</cp:revision>
  <dc:title>Blue Minimalist Project Presentation</dc:title>
</cp:coreProperties>
</file>